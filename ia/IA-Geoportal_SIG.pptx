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 la idea central: AGENTS, SKILLS y SPECS organizan el contexto que recibe la IA. La ilustración es conceptual y no corresponde a una ciudad real. El caso de clase será registrar un centro de salud en PostGIS y mostrarlo en MapLibre.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objetivo no es memorizar nombres de archivos. Es saber qué información necesita un agente de programación para no inventar requisitos y cómo demostrar que el resultado funciona. Proyecto de referencia: geoportal-ia-plan-specs.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alumno hace clic en el mapa, completa nombre y categoría salud, y guarda. El frontend envía longitud y latitud a Express. La base almacena geometry(Point,4326). La lectura GeoJSON devuelve el punto para dibujarlo. La ilustración es conceptual, no es una captura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 que -77.031 es longitud y -12.057 es latitud. La API convierte el JSON de entrada en una geometría y luego en GeoJSON de salida. Esta secuencia está implementada en frontend/src/main.js, backend/app.js, backend/domain.js y backend/model.js.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AGENTS.md: reglas que se aplican en el repositorio. SKILL.md: método reusable para una clase de tareas. SPEC: contrato observable de una funcionalidad. Después, tareas y pruebas convierten el contrato en trabajo verificable. Fuentes: https://developers.openai.com/es-419/guides/best-practices y https://developers.openai.com/es-419/docs/build-skills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archivo real está en la raíz del proyecto. Incluye una instalación npm, carpetas backend/frontend/db, orden de coordenadas y pruebas obligatorias. La documentación oficial recomienda mantenerlo breve y práctico: https://developers.openai.com/es-419/guides/best-practices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Muestra el AGENTS.md real. Pregunta: si mañana agregamos una capa de escuelas, ¿siguen vigentes estas reglas? Sí. Por eso viven en AGENTS.md y no en una spec de una sola funcionalidad.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archivo está en .agents/skills/geoportal-gis/SKILL.md. La documentación de OpenAI indica que la skill tiene frontmatter name/description y que Codex la puede seleccionar por descripción o mediante invocación explícita. Fuente: https://developers.openai.com/es-419/docs/build-skills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skill real también pide validar rangos y parametrizar SQL. El frontmatter permite descubrirla. No hay que copiar aquí todos los endpoints, porque esos contratos pertenecen a las specs. Fuente: https://developers.openai.com/es-419/docs/build-skills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spec no necesita un formato propietario. Es un documento del repositorio que AGENTS.md y los prompts indican leer. Debe describir comportamiento observable, no una lista vaga de tecnologías. Muestra el archivo specs/001-geoportal-mvp.md.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 que la API puede implementarse de varias maneras, pero debe cumplir estas respuestas. La spec completa también define 400, 404 y 409. La ruta real se encuentra en backend/app.js; el modelo en backend/model.js.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Criterios de aceptación permiten evaluar el resultado de la IA. CA01 necesita base real para una prueba integral; CA02 y CA03 pueden comprobarse con pruebas de dominio y HTTP. El proyecto contiene test/domain.test.js y test/app.test.js.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 esta comparación para clasificar nuevas instrucciones. Si la misma regla se aplica a casi todo el repo, AGENTS. Si es un procedimiento técnico reusable, skill. Si define lo que una función hace hoy, spec. Si es trabajo asignable con evidencia,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 común confundir AGENTS.md con subagentes. Explica que los TOML de .codex/agents/ son otra capacidad, y que los archivos agents/*.md son plantillas de prompt legibles. Fuente: https://developers.openai.com/codex/subagents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Relaciona los archivos reales: docs/01_PLAN.md, specs/001-geoportal-mvp.md, tasks/001-backlog.md, backend/, frontend/ y test/. La guía oficial de Codex recomienda AGENTS.md y planes para trabajo de varias etapas: https://developers.openai.com/es-419/guides/best-practices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primer fragmento resume backend/domain.js. El segundo aparece en backend/model.js. Sequelize documenta que GEOMETRY acepta GeoJSON y permite DataTypes.GEOMETRY('POINT', 4326). Fuente: https://sequelize.org/api/v6/class/src/data-types.js~geometry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Código didáctico simplificado del endpoint en backend/app.js. La implementación real también agrega la cabecera Location y respuestas problem+json. No copies esta diapositiva como sustituto del archivo completo. Fuente técnica Express: https://expressjs.com/en/starter/installing/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proyecto tiene pruebas de contrato HTTP, validación de coordenadas y GeoJSON. Explica que las pruebas con un repositorio falso no sustituyen la integración real con PostGIS; docs/03_VERIFICACION.md contiene esa comprobación. La prueba de código está en test/app.test.js y test/domain.test.js.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Descompón el prompt: contexto (AGENTS + spec), método (skill), alcance (T04), conducta observable (201 y 422), evidencia (test y build) y límite de verificación (base real). El prompt se puede copiar y adaptar en Codex.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propósito es que el alumno decida dónde vive cada cambio. La lista de categorías pertenece al contrato de producto y a la validación. AGENTS.md solo cambiaría si aparece una nueva regla duradera del repositorio. El README y docs/04_AGENTS_SKILLS_SPECS.md amplían este ejercicio.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3E35C4C-A19C-4506-83B1-162EE7B80EBA}"/>
              </a:ext>
            </a:extLst>
          </p:cNvPr>
          <p:cNvSpPr>
            <a:spLocks noGrp="1"/>
          </p:cNvSpPr>
          <p:nvPr/>
        </p:nvSpPr>
        <p:spPr>
          <a:xfrm>
            <a:off x="714375" y="1066800"/>
            <a:ext cx="5524500" cy="2952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</a:t>
            </a:r>
          </a:p>
          <a:p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SKILLS</a:t>
            </a:r>
          </a:p>
          <a:p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7D747D-90A1-4F6A-8159-755790CF6F71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5810250" cy="933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0">
                <a:solidFill>
                  <a:srgbClr val="CBEA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BEAE7"/>
                </a:solidFill>
                <a:latin typeface="Arial"/>
                <a:ea typeface="Arial"/>
                <a:cs typeface="Arial"/>
              </a:rPr>
              <a:t>Programación con IA para un geoportal sencillo</a:t>
            </a:r>
          </a:p>
        </p:txBody>
      </p:sp>
    </p:spTree>
    <p:extLst>
      <p:ext uri="{BB962C8B-B14F-4D97-AF65-F5344CB8AC3E}">
        <p14:creationId xmlns:p14="http://schemas.microsoft.com/office/powerpoint/2010/main" val="578978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0F25027-A4D6-4EB9-8E9F-24D4CB93E2D3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14ECE39-3C6A-450E-9C9D-66134CECE3B7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Objetivo de la clase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555359-5B90-460C-B7FB-E97C27FE5F77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33A1DAC-6100-44B5-B221-C64E211425EB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Al terminar podrás explicar qué instruye cada archivo, formular una funcionalidad SIG verificable y guiar a una IA desde la spec hasta el código y las pruebas.</a:t>
            </a:r>
          </a:p>
        </p:txBody>
      </p:sp>
    </p:spTree>
    <p:extLst>
      <p:ext uri="{BB962C8B-B14F-4D97-AF65-F5344CB8AC3E}">
        <p14:creationId xmlns:p14="http://schemas.microsoft.com/office/powerpoint/2010/main" val="129906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E7CB272-F4AA-4CFA-9C5C-FDBCF1B32BBD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98F5D31-A24B-4381-A47F-BCDB6418478B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Caso único: registrar un centro de salud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06AA40-A36A-42A0-A27A-6EBC59CE983B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EE9355-D123-4DE6-A325-8B73840AF897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3524250" cy="3190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1. Clic en el mapa</a:t>
            </a:r>
          </a:p>
          <a:p>
            <a:pPr algn="l">
              <a:defRPr sz="225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2. Completar datos</a:t>
            </a:r>
          </a:p>
          <a:p>
            <a:pPr algn="l">
              <a:defRPr sz="225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3. Guardar en PostGIS</a:t>
            </a:r>
          </a:p>
          <a:p>
            <a:pPr algn="l">
              <a:defRPr sz="225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4. Ver el punto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14950" y="1695450"/>
            <a:ext cx="55626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24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9F78011-DC9B-4778-AAB7-0247F4B79DB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F3F04E-BEAB-45C9-9A5B-93DDDAA97F6A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El dato atraviesa cinco pasos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818768-35F3-4356-86CC-0CACE886ACE4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5B2A60-9AF7-4C53-BC57-CB38486DF208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Mapa: clic en [-77.031, -12.057]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API Express: POST /api/lugares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Sequelize y PostGIS: Point 4326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GeoJSON y MapLibre: punto visible</a:t>
            </a:r>
          </a:p>
        </p:txBody>
      </p:sp>
    </p:spTree>
    <p:extLst>
      <p:ext uri="{BB962C8B-B14F-4D97-AF65-F5344CB8AC3E}">
        <p14:creationId xmlns:p14="http://schemas.microsoft.com/office/powerpoint/2010/main" val="93188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D1751DF-52EE-47C1-93AE-10D7CBE2793F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6EBF1F-C00D-411F-9B6A-D85BFE67C146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Tres archivos, tres preguntas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245C7C-ACFC-4315-BD06-23FFF3BE3AC6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A5419C-C361-439A-8515-71DA4D2F119F}"/>
              </a:ext>
            </a:extLst>
          </p:cNvPr>
          <p:cNvSpPr>
            <a:spLocks noGrp="1"/>
          </p:cNvSpPr>
          <p:nvPr/>
        </p:nvSpPr>
        <p:spPr>
          <a:xfrm>
            <a:off x="695325" y="19240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AGENTS.md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EFA5D1-2D23-43DD-BE84-57BDE6424001}"/>
              </a:ext>
            </a:extLst>
          </p:cNvPr>
          <p:cNvSpPr>
            <a:spLocks noGrp="1"/>
          </p:cNvSpPr>
          <p:nvPr/>
        </p:nvSpPr>
        <p:spPr>
          <a:xfrm>
            <a:off x="695325" y="27622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¿Cómo trabaja la IA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en este proyecto?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CE98A1-320E-4CBE-8C61-8B94CC2C93F6}"/>
              </a:ext>
            </a:extLst>
          </p:cNvPr>
          <p:cNvSpPr>
            <a:spLocks noGrp="1"/>
          </p:cNvSpPr>
          <p:nvPr/>
        </p:nvSpPr>
        <p:spPr>
          <a:xfrm>
            <a:off x="695325" y="4591050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Reglas duraderas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C03F21-19F7-4A69-8B41-A49670B02434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SKILL.md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2F8CB9-57EE-4FA3-9A9B-A2BED7953A1C}"/>
              </a:ext>
            </a:extLst>
          </p:cNvPr>
          <p:cNvSpPr>
            <a:spLocks noGrp="1"/>
          </p:cNvSpPr>
          <p:nvPr/>
        </p:nvSpPr>
        <p:spPr>
          <a:xfrm>
            <a:off x="4495800" y="27622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¿Qué método técnico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usa en tareas GIS?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DA8934-C671-46B0-BB22-972D0F9734D6}"/>
              </a:ext>
            </a:extLst>
          </p:cNvPr>
          <p:cNvSpPr>
            <a:spLocks noGrp="1"/>
          </p:cNvSpPr>
          <p:nvPr/>
        </p:nvSpPr>
        <p:spPr>
          <a:xfrm>
            <a:off x="4495800" y="4591050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Procedimiento reutilizable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C2A2AD-9D20-4A13-AC49-FDE8824FCB45}"/>
              </a:ext>
            </a:extLst>
          </p:cNvPr>
          <p:cNvSpPr>
            <a:spLocks noGrp="1"/>
          </p:cNvSpPr>
          <p:nvPr/>
        </p:nvSpPr>
        <p:spPr>
          <a:xfrm>
            <a:off x="8296275" y="19240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856A60A-9989-43E0-9E1B-A5CE755E4D3E}"/>
              </a:ext>
            </a:extLst>
          </p:cNvPr>
          <p:cNvSpPr>
            <a:spLocks noGrp="1"/>
          </p:cNvSpPr>
          <p:nvPr/>
        </p:nvSpPr>
        <p:spPr>
          <a:xfrm>
            <a:off x="8296275" y="27622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¿Qué debe hacer esta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función?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F9E1F40-CDF7-4ED6-B2A7-9BC6324E280D}"/>
              </a:ext>
            </a:extLst>
          </p:cNvPr>
          <p:cNvSpPr>
            <a:spLocks noGrp="1"/>
          </p:cNvSpPr>
          <p:nvPr/>
        </p:nvSpPr>
        <p:spPr>
          <a:xfrm>
            <a:off x="8296275" y="4591050"/>
            <a:ext cx="33337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42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Contrato verificable</a:t>
            </a:r>
          </a:p>
        </p:txBody>
      </p:sp>
    </p:spTree>
    <p:extLst>
      <p:ext uri="{BB962C8B-B14F-4D97-AF65-F5344CB8AC3E}">
        <p14:creationId xmlns:p14="http://schemas.microsoft.com/office/powerpoint/2010/main" val="68332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C3FD76D-5C5F-4A22-A203-8401DB2C23BD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72B675-375A-4FCA-8814-0726202F4598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AGENTS.md: reglas del repositorio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801373-0753-44C9-B347-0DE00DD856AF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D38425-60A6-447C-8459-6503106E24DB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Codex encuentra AGENTS.md al trabajar en el proyecto. Allí guardamos estructura, comandos, convenciones y criterios para terminar una tarea. La misma regla puede servir a muchas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73981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997C4DF-6448-40B9-BC9F-2885041386E2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91323F3-AA4F-4DE3-A779-A8627B84573D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Ejemplo de AGENTS.md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C6DCE5-E181-4C0B-A176-718595BC141D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47CD09A-0A53-4C41-8380-B370B19129D2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Reglas que seguirán siendo útiles cuando crezcan las capas del mapa.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306CB75-DFE3-4B25-8634-5775F41A85B2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# Instrucciones del proyecto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Usa un solo package.json en la raíz.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Backend en backend/; visor en frontend/.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GeoJSON: [longitud, latitud]; SRID 4326.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Antes de cambiar una ruta, revisa la spec.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Ejecuta npm test y npm run build.</a:t>
            </a:r>
          </a:p>
        </p:txBody>
      </p:sp>
    </p:spTree>
    <p:extLst>
      <p:ext uri="{BB962C8B-B14F-4D97-AF65-F5344CB8AC3E}">
        <p14:creationId xmlns:p14="http://schemas.microsoft.com/office/powerpoint/2010/main" val="199856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F4EDCEE-851E-48C1-8772-A2AD8B7B3B02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8DE18F-1C3E-434C-B397-2E8A1EC73BDF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SKILL.md: método SIG reutilizable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212FF0-494C-408C-9019-ED4EE4FB3593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FD145FC-F056-4E53-9976-5DA48470B4CD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La skill se activa para una clase de trabajo especializado. En este proyecto ayuda a revisar geometrías, GeoJSON, PostGIS y MapLibre. Puede invocarse en el prompt como $geoportal-gis.</a:t>
            </a:r>
          </a:p>
        </p:txBody>
      </p:sp>
    </p:spTree>
    <p:extLst>
      <p:ext uri="{BB962C8B-B14F-4D97-AF65-F5344CB8AC3E}">
        <p14:creationId xmlns:p14="http://schemas.microsoft.com/office/powerpoint/2010/main" val="1863109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0A2D2AE2-37B1-4E22-99C6-C7C8FF9A2837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AF55734-5E21-4773-BAFF-4EDA13C03A7D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Ejemplo de la skill GIS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825A66-ADE8-4034-96A6-B7EAAF27FC08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6B0378-F810-4A5C-8CA6-E640F4534246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El método sirve al alta de puntos y a futuras consultas espaciales.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3932A7-654A-4542-9C92-A10C54759769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name: geoportal-gis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description: Cambios GIS de este proyecto.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endParaRPr sz="1500" b="0">
              <a:solidFill>
                <a:srgbClr val="10283D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Lee la spec antes de editar.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Point 4326: [longitud, latitud].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Para metros, usa geography o CRS métrico.</a:t>
            </a:r>
          </a:p>
          <a:p>
            <a:pPr algn="l">
              <a:defRPr sz="150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- Prueba el contrato HTTP y el visor.</a:t>
            </a:r>
          </a:p>
        </p:txBody>
      </p:sp>
    </p:spTree>
    <p:extLst>
      <p:ext uri="{BB962C8B-B14F-4D97-AF65-F5344CB8AC3E}">
        <p14:creationId xmlns:p14="http://schemas.microsoft.com/office/powerpoint/2010/main" val="78247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1C44527-A6DA-413C-90DB-84B60D4525FB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42E3653-1B6D-4EC0-A6E9-82A713619EB0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SPEC: contrato de la funcionalidad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4ADAF6-38F2-4FFD-A834-A8142CCEA038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83B097-130A-4317-B06B-39537ED0A574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La spec precisa lo que el usuario puede hacer, qué acepta la API, qué devuelve y cómo comprobarlo. En este curso es un Markdown del proyecto: specs/001-geoportal-mvp.md.</a:t>
            </a:r>
          </a:p>
        </p:txBody>
      </p:sp>
    </p:spTree>
    <p:extLst>
      <p:ext uri="{BB962C8B-B14F-4D97-AF65-F5344CB8AC3E}">
        <p14:creationId xmlns:p14="http://schemas.microsoft.com/office/powerpoint/2010/main" val="114326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671266F-9CD0-4724-958C-640A9651BA0F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9F2EA4-ECCD-43C2-9044-E9A8A10AC493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Spec del alta de lugares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723FDD-9041-4F92-9528-25C3C1AEFC25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2D2C0F-E39D-4949-98D0-3CB5FBC9BFD6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Contrato mínimo para el centro de salud del ejemplo.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D1CAC06-A964-48B9-9084-83616884EB67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POST /api/lugares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Entrada: nombre, categoria, longitud, latitud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Éxito: 201 + JSON + cabecera Location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Error: latitud fuera de rango → 422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Persistencia: geometry(Point, 4326)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Salida GeoJSON: [longitud, latitud]</a:t>
            </a:r>
          </a:p>
        </p:txBody>
      </p:sp>
    </p:spTree>
    <p:extLst>
      <p:ext uri="{BB962C8B-B14F-4D97-AF65-F5344CB8AC3E}">
        <p14:creationId xmlns:p14="http://schemas.microsoft.com/office/powerpoint/2010/main" val="150697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ECCBB26-BE62-48EA-8C87-0D4C7E1C9F8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AB0628-0D7F-4F65-B226-53292EABE31E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La spec termina en criterios comprobables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E9504B-DDFD-42D7-8A0C-5C8A127C1B29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2886F8-0598-42A3-B81B-F86788318B39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CA01 · El POST válido aparece en /geojson.</a:t>
            </a:r>
          </a:p>
          <a:p>
            <a:endParaRPr sz="2025" b="0">
              <a:solidFill>
                <a:srgbClr val="10283D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CA02 · La geometría conserva [longitud, latitud].</a:t>
            </a:r>
          </a:p>
          <a:p>
            <a:endParaRPr sz="2025" b="0">
              <a:solidFill>
                <a:srgbClr val="10283D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CA03 · Una latitud de 100 responde 422 y no crea registro.</a:t>
            </a:r>
          </a:p>
        </p:txBody>
      </p:sp>
    </p:spTree>
    <p:extLst>
      <p:ext uri="{BB962C8B-B14F-4D97-AF65-F5344CB8AC3E}">
        <p14:creationId xmlns:p14="http://schemas.microsoft.com/office/powerpoint/2010/main" val="198555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31AE6F5-2476-4940-B898-673A26F6BB9C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8DC781-0FA1-49D5-99ED-1F5591AFD5C0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Dónde guardar cada decisión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BA227F2-2EC3-468F-B8EF-E4C9DA52E3EC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61D183-AEA3-41A0-B9DC-ADBEB45F9E30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4819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Reglas y método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B8D4BC-CD96-4DEC-9CB0-950264B4CDE3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4810125" cy="3286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AGENTS.md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Carpetas, comandos y convenciones del repositorio.</a:t>
            </a:r>
          </a:p>
          <a:p>
            <a:endParaRPr sz="1800" b="0">
              <a:solidFill>
                <a:srgbClr val="10283D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SKILL.md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Procedimiento GIS que se repite entre tareas.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A71E7E8-8F56-4AF5-8C34-6A70D2E4B6FB}"/>
              </a:ext>
            </a:extLst>
          </p:cNvPr>
          <p:cNvSpPr>
            <a:spLocks noGrp="1"/>
          </p:cNvSpPr>
          <p:nvPr/>
        </p:nvSpPr>
        <p:spPr>
          <a:xfrm>
            <a:off x="6429375" y="17526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Función concreta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BFBE32-F78E-4E7D-98BE-D802DD9BAE83}"/>
              </a:ext>
            </a:extLst>
          </p:cNvPr>
          <p:cNvSpPr>
            <a:spLocks noGrp="1"/>
          </p:cNvSpPr>
          <p:nvPr/>
        </p:nvSpPr>
        <p:spPr>
          <a:xfrm>
            <a:off x="6429375" y="2266950"/>
            <a:ext cx="4810125" cy="3286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SPEC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Campos, rutas, códigos HTTP y aceptación del alta.</a:t>
            </a:r>
          </a:p>
          <a:p>
            <a:endParaRPr sz="1800" b="0">
              <a:solidFill>
                <a:srgbClr val="10283D"/>
              </a:solidFill>
              <a:latin typeface="Arial"/>
              <a:ea typeface="Arial"/>
              <a:cs typeface="Arial"/>
            </a:endParaRP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TAREA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Archivos a tocar y prueba que demuestra el cambio.</a:t>
            </a:r>
          </a:p>
        </p:txBody>
      </p:sp>
    </p:spTree>
    <p:extLst>
      <p:ext uri="{BB962C8B-B14F-4D97-AF65-F5344CB8AC3E}">
        <p14:creationId xmlns:p14="http://schemas.microsoft.com/office/powerpoint/2010/main" val="59797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E7908E6-703B-4DF5-BBDC-1D1F265D90A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2618F0-DF11-4EE8-ABB9-2D3E6390E07C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AGENTS.md y agentes personalizados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03671C-18EB-4BBD-BF2A-B505D122CDDF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F5ED903-948D-4432-8462-AF9C79684498}"/>
              </a:ext>
            </a:extLst>
          </p:cNvPr>
          <p:cNvSpPr>
            <a:spLocks noGrp="1"/>
          </p:cNvSpPr>
          <p:nvPr/>
        </p:nvSpPr>
        <p:spPr>
          <a:xfrm>
            <a:off x="762000" y="1752600"/>
            <a:ext cx="48196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AGENTS.md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1D2722-8FC1-45B0-AED3-39F3905CF147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4810125" cy="3286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Archivo de reglas del repositorio.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Codex lo lee como contexto cuando trabaja en esa carpeta.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No representa un trabajador adicional.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DD7157-0B63-4FC3-94EE-43ED59D478BF}"/>
              </a:ext>
            </a:extLst>
          </p:cNvPr>
          <p:cNvSpPr>
            <a:spLocks noGrp="1"/>
          </p:cNvSpPr>
          <p:nvPr/>
        </p:nvSpPr>
        <p:spPr>
          <a:xfrm>
            <a:off x="6429375" y="175260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.codex/agents/*.toml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7EAE1E-2013-4224-83E6-6157D2E6AC51}"/>
              </a:ext>
            </a:extLst>
          </p:cNvPr>
          <p:cNvSpPr>
            <a:spLocks noGrp="1"/>
          </p:cNvSpPr>
          <p:nvPr/>
        </p:nvSpPr>
        <p:spPr>
          <a:xfrm>
            <a:off x="6429375" y="2266950"/>
            <a:ext cx="4810125" cy="3286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Configuraciones de roles opcionales.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Este proyecto define arquitecto, implementador y revisor.</a:t>
            </a:r>
          </a:p>
          <a:p>
            <a:pPr algn="l">
              <a:defRPr sz="1800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Se usan cuando se solicita delegación.</a:t>
            </a:r>
          </a:p>
        </p:txBody>
      </p:sp>
    </p:spTree>
    <p:extLst>
      <p:ext uri="{BB962C8B-B14F-4D97-AF65-F5344CB8AC3E}">
        <p14:creationId xmlns:p14="http://schemas.microsoft.com/office/powerpoint/2010/main" val="3578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72B2D54-E455-484D-9A50-A929DF0C2AF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5B3FA71-6608-4B40-B11F-A1185DF58E9D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El ciclo de trabajo con 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C02A0B7-AA1E-4D7A-8817-F5D419E7C14C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A4ED69-7DD7-41FD-B014-9F6E59082C7F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17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Idea → Plan → Spec → Tareas → Código → Pruebas → Revisión</a:t>
            </a:r>
          </a:p>
          <a:p>
            <a:endParaRPr sz="2175" b="0">
              <a:solidFill>
                <a:srgbClr val="10283D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Cada etapa deja un artefacto legible. Un cambio en el contrato exige revisar las tareas, el código y las pruebas.</a:t>
            </a:r>
          </a:p>
        </p:txBody>
      </p:sp>
    </p:spTree>
    <p:extLst>
      <p:ext uri="{BB962C8B-B14F-4D97-AF65-F5344CB8AC3E}">
        <p14:creationId xmlns:p14="http://schemas.microsoft.com/office/powerpoint/2010/main" val="98668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1D8B7FB-58A6-46AE-A41F-3F1F46CE9C80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D8DF15-7904-4B2C-92B8-051DDDE7DF7F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La spec se convierte en geometría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451805-1D18-4057-AF8D-2D030064B24D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6DA44C-D1A0-414E-8A3D-681ED51C728E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La validación traduce los campos del formulario a Point.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05273D-0CBA-4F7E-AD95-466A08E7A958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const geom = {</a:t>
            </a:r>
          </a:p>
          <a:p>
            <a:pPr algn="l">
              <a:defRPr sz="172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type: "Point",</a:t>
            </a:r>
          </a:p>
          <a:p>
            <a:pPr algn="l">
              <a:defRPr sz="172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coordinates: [longitud, latitud]</a:t>
            </a:r>
          </a:p>
          <a:p>
            <a:pPr algn="l">
              <a:defRPr sz="172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endParaRPr sz="1725" b="0">
              <a:solidFill>
                <a:srgbClr val="10283D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72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geom: DataTypes.GEOMETRY("POINT", 4326)</a:t>
            </a:r>
          </a:p>
        </p:txBody>
      </p:sp>
    </p:spTree>
    <p:extLst>
      <p:ext uri="{BB962C8B-B14F-4D97-AF65-F5344CB8AC3E}">
        <p14:creationId xmlns:p14="http://schemas.microsoft.com/office/powerpoint/2010/main" val="1146998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9816BB5-F7DB-48E9-9093-D1C7064F456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238BEA5-B056-4A9C-B8AA-CB75CD1D2D7C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La ruta Express cumple el contrato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E3280B-8608-4AF0-8597-AB772D17465A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D7F3663-23E4-4734-AA86-EC3335E296B6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El endpoint responde 422 ante datos inválidos y 201 al crear.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B3A0EA-EDBB-49B1-A86C-7C44EEF1C801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app.post("/api/lugares", async (req, res) =&gt; {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const nuevo = validarNuevoLugar(req.body);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if (nuevo.errores.length) return error422(res);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const lugar = await repository.crear(nuevo.valor);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return res.status(201).json(lugar);</a:t>
            </a:r>
          </a:p>
          <a:p>
            <a:pPr algn="l">
              <a:defRPr sz="1575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9713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0FB93B1-A3BC-4CC1-80EB-79EAFD8A7465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10CACF-7376-4103-BF37-1190E2692516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Las pruebas cierran el ciclo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5FF438-04F8-4A9A-87F1-4445AEF86A73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85BF842-8B32-46AD-818C-E2326EE43483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04298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La IA entrega evidencia, no solo archivos modificados.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EEED4C-2E25-4A19-A64E-46AFAEBBF305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0287000" cy="3133725"/>
          </a:xfrm>
          <a:prstGeom prst="rect">
            <a:avLst/>
          </a:prstGeom>
          <a:solidFill>
            <a:srgbClr val="EBF4F2"/>
          </a:solidFill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assert.equal(respuesta.status, 201);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assert.deepEqual(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feature.geometry.coordinates,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  [-77.031, -12.057]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);</a:t>
            </a:r>
          </a:p>
          <a:p>
            <a:endParaRPr sz="1650" b="0">
              <a:solidFill>
                <a:srgbClr val="10283D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# Verificación del proyecto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npm test</a:t>
            </a:r>
          </a:p>
          <a:p>
            <a:pPr algn="l">
              <a:defRPr sz="1650" b="0">
                <a:solidFill>
                  <a:srgbClr val="10283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0283D"/>
                </a:solidFill>
                <a:latin typeface="Consolas"/>
                <a:ea typeface="Consolas"/>
                <a:cs typeface="Consolas"/>
              </a:rPr>
              <a:t>npm run build</a:t>
            </a:r>
          </a:p>
        </p:txBody>
      </p:sp>
    </p:spTree>
    <p:extLst>
      <p:ext uri="{BB962C8B-B14F-4D97-AF65-F5344CB8AC3E}">
        <p14:creationId xmlns:p14="http://schemas.microsoft.com/office/powerpoint/2010/main" val="48353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F7EA624-B2D2-4178-9DED-5CAB60752AD9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A64A7C-2E33-4A51-B8B1-B4F553830283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Prompt de implementación para la 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E763D4-E6C0-4554-B6C3-8B376868E3A9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13EE969-91E3-4BD2-9F98-016F98369E8A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«Lee AGENTS.md y la spec 001. Usa $geoportal-gis. Implementa la tarea T04: POST /api/lugares guarda un Point 4326, responde 201 y rechaza latitud 100 con 422. Ejecuta npm test y npm run build. Explica lo que aún falta comprobar con PostGIS real.»</a:t>
            </a:r>
          </a:p>
        </p:txBody>
      </p:sp>
    </p:spTree>
    <p:extLst>
      <p:ext uri="{BB962C8B-B14F-4D97-AF65-F5344CB8AC3E}">
        <p14:creationId xmlns:p14="http://schemas.microsoft.com/office/powerpoint/2010/main" val="879108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7A60E79-0B04-4B75-B7E1-9DBE984201C8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7905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PROGRAMACIÓN CON IA · SIG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85156C-E8F5-4207-B94D-4D7EBFC79F19}"/>
              </a:ext>
            </a:extLst>
          </p:cNvPr>
          <p:cNvSpPr>
            <a:spLocks noGrp="1"/>
          </p:cNvSpPr>
          <p:nvPr/>
        </p:nvSpPr>
        <p:spPr>
          <a:xfrm>
            <a:off x="647700" y="714375"/>
            <a:ext cx="10810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Ejercicio: categoría deporte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1B9611-AFDD-498E-9ABF-C630C9FADE0E}"/>
              </a:ext>
            </a:extLst>
          </p:cNvPr>
          <p:cNvSpPr>
            <a:spLocks noGrp="1"/>
          </p:cNvSpPr>
          <p:nvPr/>
        </p:nvSpPr>
        <p:spPr>
          <a:xfrm>
            <a:off x="10953750" y="62674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4A3756-2388-4743-8D86-BA6FBFA19B88}"/>
              </a:ext>
            </a:extLst>
          </p:cNvPr>
          <p:cNvSpPr>
            <a:spLocks noGrp="1"/>
          </p:cNvSpPr>
          <p:nvPr/>
        </p:nvSpPr>
        <p:spPr>
          <a:xfrm>
            <a:off x="809625" y="1838325"/>
            <a:ext cx="10287000" cy="3762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1 · Actualiza la spec y el criterio de aceptación.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2 · Añade una tarea para SQL, validación, visor y prueba.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3 · Pide a la IA que use $geoportal-gis.</a:t>
            </a:r>
          </a:p>
          <a:p>
            <a:pPr algn="l">
              <a:defRPr sz="2025" b="0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83D"/>
                </a:solidFill>
                <a:latin typeface="Arial"/>
                <a:ea typeface="Arial"/>
                <a:cs typeface="Arial"/>
              </a:rPr>
              <a:t>4 · Revisa el código y ejecuta las pruebas.</a:t>
            </a:r>
          </a:p>
        </p:txBody>
      </p:sp>
    </p:spTree>
    <p:extLst>
      <p:ext uri="{BB962C8B-B14F-4D97-AF65-F5344CB8AC3E}">
        <p14:creationId xmlns:p14="http://schemas.microsoft.com/office/powerpoint/2010/main" val="2763994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2131</Words>
  <Application>Microsoft Office PowerPoint</Application>
  <DocSecurity>0</DocSecurity>
  <PresentationFormat>Panorámica</PresentationFormat>
  <Paragraphs>189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Vb 9144</cp:lastModifiedBy>
  <cp:revision>1</cp:revision>
  <dcterms:created xsi:type="dcterms:W3CDTF">2026-09-19T22:59:39Z</dcterms:created>
  <dcterms:modified xsi:type="dcterms:W3CDTF">2026-09-19T23:07:58Z</dcterms:modified>
</cp:coreProperties>
</file>